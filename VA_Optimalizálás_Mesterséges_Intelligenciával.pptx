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2" r:id="rId19"/>
    <p:sldId id="273" r:id="rId20"/>
    <p:sldId id="275" r:id="rId2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E1ED"/>
    <a:srgbClr val="E7E4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09A0E-8D9E-4993-B128-4ED0164572BE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39B57A-DF18-4E31-9DE4-11B9A45C16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65051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BFFB061-416F-E7BC-5382-66FFDBA9FA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8F804AC-9D80-D3A1-0FE2-1CF5C4BB7D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B7AEE85-6B70-854E-FBC9-C926D29E9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A1BA-80E9-46EE-83F6-E5681D810140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F07A186-3BF4-6C5C-E755-B6B6BE8F7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250D488-44FA-33EB-1DA3-EB5C72C6B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FC23-55E1-4C14-8736-B9D5621CF5D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17193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8437B62-3FEA-52D4-C3A9-608394289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73D22D0-FB40-9051-5B7B-27251F3A5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FB5CBF2-5FD8-04FC-D707-7E10E6456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A1BA-80E9-46EE-83F6-E5681D810140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6ADA0AA-CFEB-158B-8A7D-E6709EF2D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816CB75-A7F6-6E2F-8800-F12FDDAD6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FC23-55E1-4C14-8736-B9D5621CF5D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0222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031B5BB-F278-6381-8BB0-5227C1AF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C48EF5D-6AEA-FBC4-D11F-068F28636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D327622-1BE5-E41A-2601-104BBFC31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A1BA-80E9-46EE-83F6-E5681D810140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8A785CA-B458-B00B-B2CD-61ADC7ACF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86A0EFF-D454-766E-67AC-7492AA73F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FC23-55E1-4C14-8736-B9D5621CF5D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81293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CC9A5E-74FA-4469-762C-6715148AE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9DF2833-CD81-E178-C8BB-083598AB5C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3C7D5E0-E2F6-6081-DB64-1E737EC31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AD384AE-C929-71AD-8CE3-9189E8DFF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A1BA-80E9-46EE-83F6-E5681D810140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FB63ECD-F09B-71FF-884F-4A7F4CB47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75E2081-D27C-084C-2F82-3A414AA99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FC23-55E1-4C14-8736-B9D5621CF5D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85014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D3D156-6898-398D-98F9-FDFC8750C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93F0D8B-1333-E9E2-D73E-65637E64B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3025095-EB6B-1421-1B7C-83D4735DB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A8EBB41-CB2A-9EFC-9EDA-9B37B8777E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26B8FB80-26AE-CE31-7913-32DA1091CB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FB7E0D2C-D251-9D61-1D75-08C5376F0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A1BA-80E9-46EE-83F6-E5681D810140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CE8455D2-8052-ABD7-EB30-A8398242B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A469FEE8-04A8-DFE2-5AAB-83C8C50C5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FC23-55E1-4C14-8736-B9D5621CF5D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27530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9D75139-373E-39C6-6A16-3B11D2A9E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4C3DEF8B-503D-EE15-1A9F-F3F34C408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A1BA-80E9-46EE-83F6-E5681D810140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4084E587-61E0-29B0-8DFC-3F1E613FE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4F5E9A5E-D441-2488-9546-1EBB3A963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FC23-55E1-4C14-8736-B9D5621CF5D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5829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029BAC52-8E3E-FF13-0164-5A03E9753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A1BA-80E9-46EE-83F6-E5681D810140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D96CB5A8-DEF6-5FE1-E911-2FA7F9A37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7F2735E-35E6-108A-88BE-A9684C82D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FC23-55E1-4C14-8736-B9D5621CF5D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697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F2BFFC0-3C7D-F598-BB40-56EC1D877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156A58A-711E-73E3-D277-4E5BE5A7C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6FD5D88-21AA-7050-D4E9-08A9E7A3A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B4A400F-9762-34EB-F871-276B3F68F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A1BA-80E9-46EE-83F6-E5681D810140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9340EB3-3AD5-C34E-F110-CB966A270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F4F86DE-77A7-C675-3E9F-171C44E13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FC23-55E1-4C14-8736-B9D5621CF5D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12199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82FEA2-202B-86DB-225F-6AAF31480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A58AC23E-6054-9200-EB0E-0696761353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F572F62-42F8-487E-63CF-B71C8557F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D9CD45A-6DD1-92B7-EDCA-DDA57FCC9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A1BA-80E9-46EE-83F6-E5681D810140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00932ED-4D38-AFC3-AC55-08161EDAA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E2AC50E-2C0D-8951-D2AA-BB0858F98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FC23-55E1-4C14-8736-B9D5621CF5D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91680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03A4F27-6F94-62C8-C254-98315FB28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64F3305-073C-A7BE-0EBC-4FD69AD0E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EFCC3CD-D35C-D187-A10B-875D3E9B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A1BA-80E9-46EE-83F6-E5681D810140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4D66F11-74A3-2865-7882-CA221AB43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7BC78A3-4DA3-5663-DAFB-067F6932C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FC23-55E1-4C14-8736-B9D5621CF5D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12999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D7674B26-CA7E-404E-ABB9-1262901AF2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98D75FC-4BCF-9B38-C18F-0AC2FF42A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18342CA-B68C-8C54-36C4-5A2B1A49B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A1BA-80E9-46EE-83F6-E5681D810140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FEEB830-CE46-AE72-D2AC-D539921EA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ED1740B-35B8-518A-2D2F-191B7C795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0FC23-55E1-4C14-8736-B9D5621CF5D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11209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E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88EA93C3-19D6-2412-0F42-CBCE4CC2C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5A50864-AF1E-B429-BD13-504F18781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13B622D-9EE3-2BB4-2716-55739ED45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EA1BA-80E9-46EE-83F6-E5681D810140}" type="datetimeFigureOut">
              <a:rPr lang="hu-HU" smtClean="0"/>
              <a:t>2025. 11. 25.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F38945A-ACF9-99F8-0219-2D49F6FF1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B75F866-CCFA-8F0E-C5D7-EFD9902567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0FC23-55E1-4C14-8736-B9D5621CF5D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1562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2A89B64-7898-72D1-EA5C-0A93086AF2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E177F90-C81D-4965-E18F-B051515B9B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A6CF35C0-99D6-03D9-60A2-F75350CEB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8" y="0"/>
            <a:ext cx="12192000" cy="6858000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FB9CA6B3-6FBB-1E4B-3F81-44EBF21DD512}"/>
              </a:ext>
            </a:extLst>
          </p:cNvPr>
          <p:cNvSpPr txBox="1"/>
          <p:nvPr/>
        </p:nvSpPr>
        <p:spPr>
          <a:xfrm>
            <a:off x="-65988" y="3624083"/>
            <a:ext cx="905221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600" dirty="0">
                <a:latin typeface="+mj-lt"/>
              </a:rPr>
              <a:t>Értékelemzés módszertanának optimalizálása mesterséges intelligencia (MI) modellekkel </a:t>
            </a:r>
          </a:p>
          <a:p>
            <a:pPr algn="ctr"/>
            <a:r>
              <a:rPr lang="hu-HU" sz="2000" dirty="0">
                <a:latin typeface="+mj-lt"/>
              </a:rPr>
              <a:t>A </a:t>
            </a:r>
            <a:r>
              <a:rPr lang="hu-HU" sz="2000" dirty="0" err="1">
                <a:latin typeface="+mj-lt"/>
              </a:rPr>
              <a:t>Halvax</a:t>
            </a:r>
            <a:r>
              <a:rPr lang="hu-HU" sz="2000" dirty="0">
                <a:latin typeface="+mj-lt"/>
              </a:rPr>
              <a:t>-féle napkollektor projekt újragondolása MI támogatással </a:t>
            </a:r>
          </a:p>
          <a:p>
            <a:pPr algn="ctr"/>
            <a:r>
              <a:rPr lang="hu-HU" sz="2000" dirty="0">
                <a:latin typeface="+mj-lt"/>
              </a:rPr>
              <a:t> </a:t>
            </a:r>
          </a:p>
        </p:txBody>
      </p:sp>
      <p:sp>
        <p:nvSpPr>
          <p:cNvPr id="10" name="Élőláb helye 9">
            <a:extLst>
              <a:ext uri="{FF2B5EF4-FFF2-40B4-BE49-F238E27FC236}">
                <a16:creationId xmlns:a16="http://schemas.microsoft.com/office/drawing/2014/main" id="{2AF5C667-2D92-0681-F338-EA7B6F620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988" y="70734"/>
            <a:ext cx="5637228" cy="365125"/>
          </a:xfrm>
        </p:spPr>
        <p:txBody>
          <a:bodyPr/>
          <a:lstStyle/>
          <a:p>
            <a:r>
              <a:rPr lang="hu-HU" sz="1600" dirty="0">
                <a:latin typeface="+mj-lt"/>
              </a:rPr>
              <a:t>Dunaújvárosi Egyetem – Termékmenedzsment és értékelemzés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562B03A9-1E16-1466-4A77-9291F5FF8753}"/>
              </a:ext>
            </a:extLst>
          </p:cNvPr>
          <p:cNvSpPr txBox="1"/>
          <p:nvPr/>
        </p:nvSpPr>
        <p:spPr>
          <a:xfrm>
            <a:off x="10586301" y="5533534"/>
            <a:ext cx="19544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u-HU" sz="1600" cap="all" dirty="0">
                <a:solidFill>
                  <a:schemeClr val="tx1">
                    <a:tint val="75000"/>
                  </a:schemeClr>
                </a:solidFill>
                <a:latin typeface="+mj-lt"/>
              </a:rPr>
              <a:t>Készítették:</a:t>
            </a:r>
          </a:p>
          <a:p>
            <a:pPr algn="just"/>
            <a:r>
              <a:rPr lang="hu-HU" sz="1600" cap="all" dirty="0">
                <a:solidFill>
                  <a:schemeClr val="tx1">
                    <a:tint val="75000"/>
                  </a:schemeClr>
                </a:solidFill>
                <a:latin typeface="+mj-lt"/>
              </a:rPr>
              <a:t>Mohácsi Leila,</a:t>
            </a:r>
          </a:p>
          <a:p>
            <a:pPr algn="just"/>
            <a:r>
              <a:rPr lang="hu-HU" sz="1600" cap="all" dirty="0" err="1">
                <a:solidFill>
                  <a:schemeClr val="tx1">
                    <a:tint val="75000"/>
                  </a:schemeClr>
                </a:solidFill>
                <a:latin typeface="+mj-lt"/>
              </a:rPr>
              <a:t>Abaffy</a:t>
            </a:r>
            <a:r>
              <a:rPr lang="hu-HU" sz="1600" cap="all" dirty="0">
                <a:solidFill>
                  <a:schemeClr val="tx1">
                    <a:tint val="75000"/>
                  </a:schemeClr>
                </a:solidFill>
                <a:latin typeface="+mj-lt"/>
              </a:rPr>
              <a:t> Miklós,</a:t>
            </a:r>
          </a:p>
          <a:p>
            <a:pPr algn="just"/>
            <a:r>
              <a:rPr lang="hu-HU" sz="1600" cap="all" dirty="0">
                <a:solidFill>
                  <a:schemeClr val="tx1">
                    <a:tint val="75000"/>
                  </a:schemeClr>
                </a:solidFill>
                <a:latin typeface="+mj-lt"/>
              </a:rPr>
              <a:t>Alföldi Tamás, </a:t>
            </a:r>
          </a:p>
          <a:p>
            <a:pPr algn="just"/>
            <a:r>
              <a:rPr lang="hu-HU" sz="1600" cap="all" dirty="0" err="1">
                <a:solidFill>
                  <a:schemeClr val="tx1">
                    <a:tint val="75000"/>
                  </a:schemeClr>
                </a:solidFill>
                <a:latin typeface="+mj-lt"/>
              </a:rPr>
              <a:t>Hettich</a:t>
            </a:r>
            <a:r>
              <a:rPr lang="hu-HU" sz="1600" cap="all" dirty="0">
                <a:solidFill>
                  <a:schemeClr val="tx1">
                    <a:tint val="75000"/>
                  </a:schemeClr>
                </a:solidFill>
                <a:latin typeface="+mj-lt"/>
              </a:rPr>
              <a:t> Zsolt  </a:t>
            </a:r>
          </a:p>
          <a:p>
            <a:pPr algn="just"/>
            <a:endParaRPr lang="hu-HU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54568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9FD9B16-E628-0B44-7127-73F66D8E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A projekt célkitűzése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94EA87B-E253-C5CC-FFD2-486A702A6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hu-HU" sz="3500" b="1" dirty="0">
                <a:latin typeface="+mj-lt"/>
              </a:rPr>
              <a:t>Fő cél:</a:t>
            </a:r>
            <a:r>
              <a:rPr lang="hu-HU" sz="3500" dirty="0">
                <a:latin typeface="+mj-lt"/>
              </a:rPr>
              <a:t> MI integrálhatósága a folyamatba</a:t>
            </a:r>
          </a:p>
          <a:p>
            <a:pPr fontAlgn="base"/>
            <a:r>
              <a:rPr lang="hu-HU" sz="3500" b="1" dirty="0">
                <a:latin typeface="+mj-lt"/>
              </a:rPr>
              <a:t>Módszer:</a:t>
            </a:r>
            <a:r>
              <a:rPr lang="hu-HU" sz="3500" dirty="0">
                <a:latin typeface="+mj-lt"/>
              </a:rPr>
              <a:t> Korábbi projekt reprodukálása</a:t>
            </a:r>
          </a:p>
          <a:p>
            <a:pPr fontAlgn="base"/>
            <a:r>
              <a:rPr lang="hu-HU" sz="3500" b="1" dirty="0">
                <a:latin typeface="+mj-lt"/>
              </a:rPr>
              <a:t>Felhasznált MI modellek:</a:t>
            </a:r>
            <a:r>
              <a:rPr lang="hu-HU" sz="3500" dirty="0">
                <a:latin typeface="+mj-lt"/>
              </a:rPr>
              <a:t> </a:t>
            </a:r>
          </a:p>
          <a:p>
            <a:pPr lvl="1" fontAlgn="base"/>
            <a:r>
              <a:rPr lang="hu-HU" sz="3000" dirty="0" err="1">
                <a:latin typeface="+mj-lt"/>
              </a:rPr>
              <a:t>ChatGPT</a:t>
            </a:r>
            <a:endParaRPr lang="hu-HU" sz="3000" dirty="0">
              <a:latin typeface="+mj-lt"/>
            </a:endParaRPr>
          </a:p>
          <a:p>
            <a:pPr lvl="1" fontAlgn="base"/>
            <a:r>
              <a:rPr lang="hu-HU" sz="3000" dirty="0">
                <a:latin typeface="+mj-lt"/>
              </a:rPr>
              <a:t>Microsoft </a:t>
            </a:r>
            <a:r>
              <a:rPr lang="hu-HU" sz="3000" dirty="0" err="1">
                <a:latin typeface="+mj-lt"/>
              </a:rPr>
              <a:t>Copilot</a:t>
            </a:r>
            <a:endParaRPr lang="hu-HU" sz="3000" dirty="0">
              <a:latin typeface="+mj-lt"/>
            </a:endParaRPr>
          </a:p>
          <a:p>
            <a:pPr lvl="1" fontAlgn="base"/>
            <a:r>
              <a:rPr lang="hu-HU" sz="3000" dirty="0">
                <a:latin typeface="+mj-lt"/>
              </a:rPr>
              <a:t>Google </a:t>
            </a:r>
            <a:r>
              <a:rPr lang="hu-HU" sz="3000" dirty="0" err="1">
                <a:latin typeface="+mj-lt"/>
              </a:rPr>
              <a:t>Gemini</a:t>
            </a:r>
            <a:endParaRPr lang="hu-HU" sz="3000" dirty="0">
              <a:latin typeface="+mj-lt"/>
            </a:endParaRPr>
          </a:p>
          <a:p>
            <a:pPr fontAlgn="base"/>
            <a:r>
              <a:rPr lang="hu-HU" sz="3500" b="1" dirty="0">
                <a:latin typeface="+mj-lt"/>
              </a:rPr>
              <a:t>Várt eredmény:</a:t>
            </a:r>
            <a:r>
              <a:rPr lang="hu-HU" sz="3500" dirty="0">
                <a:latin typeface="+mj-lt"/>
              </a:rPr>
              <a:t> </a:t>
            </a:r>
          </a:p>
          <a:p>
            <a:pPr lvl="1" fontAlgn="base"/>
            <a:r>
              <a:rPr lang="hu-HU" sz="3000" dirty="0">
                <a:latin typeface="+mj-lt"/>
              </a:rPr>
              <a:t>Hatékonyságjavulás</a:t>
            </a:r>
          </a:p>
          <a:p>
            <a:pPr lvl="1" fontAlgn="base"/>
            <a:r>
              <a:rPr lang="hu-HU" sz="3000" dirty="0">
                <a:latin typeface="+mj-lt"/>
              </a:rPr>
              <a:t>Időmegtakarítás </a:t>
            </a:r>
          </a:p>
          <a:p>
            <a:pPr lvl="1" fontAlgn="base"/>
            <a:r>
              <a:rPr lang="hu-HU" sz="3000" dirty="0">
                <a:latin typeface="+mj-lt"/>
              </a:rPr>
              <a:t>Objektivitás növelés  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567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7ED530-7D12-9CE8-62B2-287C98D43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A bázisprojekt – Napkollektor értékelemzése</a:t>
            </a:r>
            <a:r>
              <a:rPr lang="hu-HU" dirty="0"/>
              <a:t> 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4634C22-D2BD-71C7-AF80-C01716CF9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hu-HU" sz="3200" b="1" dirty="0">
                <a:latin typeface="+mj-lt"/>
              </a:rPr>
              <a:t>Tárgy:</a:t>
            </a:r>
            <a:r>
              <a:rPr lang="hu-HU" sz="3200" dirty="0">
                <a:latin typeface="+mj-lt"/>
              </a:rPr>
              <a:t> Napkollektor/Gázbojler /Villanybojler összehasonlítása.  </a:t>
            </a:r>
          </a:p>
          <a:p>
            <a:pPr fontAlgn="base"/>
            <a:r>
              <a:rPr lang="hu-HU" sz="3200" b="1" dirty="0">
                <a:latin typeface="+mj-lt"/>
              </a:rPr>
              <a:t>Eredeti konklúzió:</a:t>
            </a:r>
            <a:r>
              <a:rPr lang="hu-HU" sz="3200" dirty="0">
                <a:latin typeface="+mj-lt"/>
              </a:rPr>
              <a:t> A napkollektor beruházása magas, de üzeme olcsó</a:t>
            </a:r>
          </a:p>
          <a:p>
            <a:pPr fontAlgn="base"/>
            <a:r>
              <a:rPr lang="hu-HU" sz="3200" b="1" dirty="0">
                <a:latin typeface="+mj-lt"/>
              </a:rPr>
              <a:t>Választás okai:</a:t>
            </a:r>
          </a:p>
          <a:p>
            <a:pPr lvl="1" fontAlgn="base"/>
            <a:r>
              <a:rPr lang="hu-HU" sz="2800" dirty="0">
                <a:latin typeface="+mj-lt"/>
              </a:rPr>
              <a:t>Jól dokumentált	</a:t>
            </a:r>
          </a:p>
          <a:p>
            <a:pPr lvl="1" fontAlgn="base"/>
            <a:r>
              <a:rPr lang="hu-HU" sz="2800" dirty="0">
                <a:latin typeface="+mj-lt"/>
              </a:rPr>
              <a:t>Klasszikus VA fázisokra épülő anyag</a:t>
            </a:r>
          </a:p>
          <a:p>
            <a:pPr lvl="1" fontAlgn="base"/>
            <a:r>
              <a:rPr lang="hu-HU" sz="2800" dirty="0">
                <a:latin typeface="+mj-lt"/>
              </a:rPr>
              <a:t>Ideális az összehasonlításra</a:t>
            </a:r>
          </a:p>
          <a:p>
            <a:endParaRPr lang="hu-HU" sz="3200" dirty="0"/>
          </a:p>
        </p:txBody>
      </p:sp>
    </p:spTree>
    <p:extLst>
      <p:ext uri="{BB962C8B-B14F-4D97-AF65-F5344CB8AC3E}">
        <p14:creationId xmlns:p14="http://schemas.microsoft.com/office/powerpoint/2010/main" val="212813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616A525-9F8F-13DA-36FA-42BE704F0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A hagyományos módszertan </a:t>
            </a:r>
            <a:r>
              <a:rPr lang="hu-HU" b="1" dirty="0" err="1"/>
              <a:t>korlátai</a:t>
            </a:r>
            <a:r>
              <a:rPr lang="hu-HU" b="1" dirty="0"/>
              <a:t> </a:t>
            </a:r>
            <a:r>
              <a:rPr lang="hu-HU" b="1" dirty="0" err="1"/>
              <a:t>vs</a:t>
            </a:r>
            <a:r>
              <a:rPr lang="hu-HU" b="1" dirty="0"/>
              <a:t>. MI lehetőségek</a:t>
            </a:r>
            <a:r>
              <a:rPr lang="hu-HU" dirty="0"/>
              <a:t> 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3B8852E-9B2E-DB30-F508-EDABA5057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hu-HU" sz="3200" b="1" dirty="0">
                <a:latin typeface="+mj-lt"/>
              </a:rPr>
              <a:t>Hagyományos módszertan </a:t>
            </a:r>
            <a:r>
              <a:rPr lang="hu-HU" sz="3200" b="1" dirty="0" err="1">
                <a:latin typeface="+mj-lt"/>
              </a:rPr>
              <a:t>korlátai</a:t>
            </a:r>
            <a:r>
              <a:rPr lang="hu-HU" sz="3200" b="1" dirty="0">
                <a:latin typeface="+mj-lt"/>
              </a:rPr>
              <a:t>:</a:t>
            </a:r>
            <a:r>
              <a:rPr lang="hu-HU" sz="3200" dirty="0">
                <a:latin typeface="+mj-lt"/>
              </a:rPr>
              <a:t> </a:t>
            </a:r>
          </a:p>
          <a:p>
            <a:pPr lvl="1" fontAlgn="base"/>
            <a:r>
              <a:rPr lang="hu-HU" sz="2800" dirty="0">
                <a:latin typeface="+mj-lt"/>
              </a:rPr>
              <a:t>Manuális adatgyűjtés</a:t>
            </a:r>
          </a:p>
          <a:p>
            <a:pPr lvl="1" fontAlgn="base"/>
            <a:r>
              <a:rPr lang="hu-HU" sz="2800" dirty="0">
                <a:latin typeface="+mj-lt"/>
              </a:rPr>
              <a:t>Szubjektív becslések</a:t>
            </a:r>
          </a:p>
          <a:p>
            <a:pPr lvl="1" fontAlgn="base"/>
            <a:r>
              <a:rPr lang="hu-HU" sz="2800" dirty="0">
                <a:latin typeface="+mj-lt"/>
              </a:rPr>
              <a:t>Időigényes számítások  </a:t>
            </a:r>
          </a:p>
          <a:p>
            <a:pPr marL="457200" lvl="1" indent="0" fontAlgn="base">
              <a:buNone/>
            </a:pPr>
            <a:endParaRPr lang="hu-HU" sz="3200" dirty="0">
              <a:latin typeface="+mj-lt"/>
            </a:endParaRPr>
          </a:p>
          <a:p>
            <a:pPr fontAlgn="base"/>
            <a:r>
              <a:rPr lang="hu-HU" sz="3200" b="1" dirty="0">
                <a:latin typeface="+mj-lt"/>
              </a:rPr>
              <a:t>MI integrációs lehetőségek:</a:t>
            </a:r>
            <a:r>
              <a:rPr lang="hu-HU" sz="3200" dirty="0">
                <a:latin typeface="+mj-lt"/>
              </a:rPr>
              <a:t> </a:t>
            </a:r>
          </a:p>
          <a:p>
            <a:pPr lvl="1" fontAlgn="base"/>
            <a:r>
              <a:rPr lang="hu-HU" sz="2800" dirty="0">
                <a:latin typeface="+mj-lt"/>
              </a:rPr>
              <a:t>Automatikus adatgyűjtés és előfeldolgozás</a:t>
            </a:r>
          </a:p>
          <a:p>
            <a:pPr lvl="1" fontAlgn="base"/>
            <a:r>
              <a:rPr lang="hu-HU" sz="2800" dirty="0">
                <a:latin typeface="+mj-lt"/>
              </a:rPr>
              <a:t>Funkcióelemzés és FAST-diagram optimalizálás </a:t>
            </a:r>
          </a:p>
          <a:p>
            <a:pPr lvl="1" fontAlgn="base"/>
            <a:r>
              <a:rPr lang="hu-HU" sz="2800" dirty="0">
                <a:latin typeface="+mj-lt"/>
              </a:rPr>
              <a:t>Prediktív költségmodellek és szcenárióelemzés </a:t>
            </a:r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43803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0FDF525-45FD-92CD-536D-C160ACD4B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MI alkalmazási lehetőségek az értékelemzési fázisokban 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9777B31-89EB-5AF3-CAEC-DB4191A4E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pPr fontAlgn="base"/>
            <a:r>
              <a:rPr lang="hu-HU" sz="3200" b="1" dirty="0">
                <a:latin typeface="+mj-lt"/>
              </a:rPr>
              <a:t>Cél: </a:t>
            </a:r>
            <a:r>
              <a:rPr lang="hu-HU" sz="3200" dirty="0">
                <a:latin typeface="+mj-lt"/>
              </a:rPr>
              <a:t>Optimalizálás MI eszközökkel</a:t>
            </a:r>
          </a:p>
          <a:p>
            <a:pPr marL="0" indent="0" fontAlgn="base">
              <a:buNone/>
            </a:pPr>
            <a:endParaRPr lang="hu-HU" sz="3200" dirty="0">
              <a:latin typeface="+mj-lt"/>
            </a:endParaRPr>
          </a:p>
          <a:p>
            <a:pPr fontAlgn="base"/>
            <a:r>
              <a:rPr lang="hu-HU" sz="3200" b="1" dirty="0">
                <a:latin typeface="+mj-lt"/>
              </a:rPr>
              <a:t>Fázisok: </a:t>
            </a:r>
          </a:p>
          <a:p>
            <a:pPr lvl="1" fontAlgn="base"/>
            <a:r>
              <a:rPr lang="hu-HU" sz="2800" dirty="0">
                <a:latin typeface="+mj-lt"/>
              </a:rPr>
              <a:t>Információgyűjtés</a:t>
            </a:r>
          </a:p>
          <a:p>
            <a:pPr lvl="1" fontAlgn="base"/>
            <a:r>
              <a:rPr lang="hu-HU" sz="2800" dirty="0">
                <a:latin typeface="+mj-lt"/>
              </a:rPr>
              <a:t>Funkcióelemzés és FAST-diagram</a:t>
            </a:r>
          </a:p>
          <a:p>
            <a:pPr lvl="1" fontAlgn="base"/>
            <a:r>
              <a:rPr lang="hu-HU" sz="2800" dirty="0">
                <a:latin typeface="+mj-lt"/>
              </a:rPr>
              <a:t>Ötletgyűjtés - </a:t>
            </a:r>
            <a:r>
              <a:rPr lang="hu-HU" sz="2800" dirty="0" err="1">
                <a:latin typeface="+mj-lt"/>
              </a:rPr>
              <a:t>Brainstorming</a:t>
            </a:r>
            <a:endParaRPr lang="hu-HU" sz="2800" dirty="0">
              <a:latin typeface="+mj-lt"/>
            </a:endParaRPr>
          </a:p>
          <a:p>
            <a:pPr lvl="1" fontAlgn="base"/>
            <a:r>
              <a:rPr lang="hu-HU" sz="2800" dirty="0">
                <a:latin typeface="+mj-lt"/>
              </a:rPr>
              <a:t>Költségelemzés </a:t>
            </a:r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78312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FB1F4C-A738-2ACB-9DE5-FBBA47F55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Információgyűjtés (VA 2. fázis)</a:t>
            </a:r>
            <a:r>
              <a:rPr lang="hu-HU" dirty="0"/>
              <a:t> 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6761DC-7456-9AE8-EE55-74E8BBA03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hu-HU" sz="3200" b="1" dirty="0">
                <a:latin typeface="+mj-lt"/>
              </a:rPr>
              <a:t>Feladat:</a:t>
            </a:r>
            <a:r>
              <a:rPr lang="hu-HU" sz="3200" dirty="0">
                <a:latin typeface="+mj-lt"/>
              </a:rPr>
              <a:t> Piaci adatok, műszaki paraméterek kigyűjtése. </a:t>
            </a:r>
          </a:p>
          <a:p>
            <a:pPr fontAlgn="base"/>
            <a:r>
              <a:rPr lang="hu-HU" sz="3200" b="1" dirty="0">
                <a:latin typeface="+mj-lt"/>
              </a:rPr>
              <a:t>Eredmény:</a:t>
            </a:r>
            <a:r>
              <a:rPr lang="hu-HU" sz="3200" dirty="0">
                <a:latin typeface="+mj-lt"/>
              </a:rPr>
              <a:t> </a:t>
            </a:r>
          </a:p>
          <a:p>
            <a:pPr marL="457200" lvl="1" indent="0" fontAlgn="base">
              <a:buNone/>
            </a:pPr>
            <a:endParaRPr lang="hu-HU" sz="2800" dirty="0">
              <a:latin typeface="+mj-lt"/>
            </a:endParaRPr>
          </a:p>
          <a:p>
            <a:pPr marL="457200" lvl="1" indent="0" fontAlgn="base">
              <a:buNone/>
            </a:pPr>
            <a:endParaRPr lang="hu-HU" sz="2800" dirty="0">
              <a:latin typeface="+mj-lt"/>
            </a:endParaRPr>
          </a:p>
          <a:p>
            <a:pPr marL="457200" lvl="1" indent="0" fontAlgn="base">
              <a:buNone/>
            </a:pPr>
            <a:endParaRPr lang="hu-HU" sz="2800" dirty="0">
              <a:latin typeface="+mj-lt"/>
            </a:endParaRPr>
          </a:p>
          <a:p>
            <a:pPr marL="457200" lvl="1" indent="0" fontAlgn="base">
              <a:buNone/>
            </a:pPr>
            <a:endParaRPr lang="hu-HU" sz="2800" dirty="0">
              <a:latin typeface="+mj-lt"/>
            </a:endParaRPr>
          </a:p>
          <a:p>
            <a:pPr marL="457200" lvl="1" indent="0" fontAlgn="base">
              <a:buNone/>
            </a:pPr>
            <a:endParaRPr lang="hu-HU" sz="2800" dirty="0">
              <a:latin typeface="+mj-lt"/>
            </a:endParaRPr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2BFB1F1-A487-C9EE-FAFB-AD8FAD8C15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128" y="2976629"/>
            <a:ext cx="7100663" cy="351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654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AF9481-0A3B-5E2B-449B-6ABB4B8CE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Funkcióelemzés és FAST-diagram (VA 3. fázis)</a:t>
            </a:r>
            <a:r>
              <a:rPr lang="hu-HU" dirty="0"/>
              <a:t> 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99C6A1D-06DC-0836-0239-2B52531CD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5509"/>
            <a:ext cx="10515600" cy="4351338"/>
          </a:xfrm>
        </p:spPr>
        <p:txBody>
          <a:bodyPr>
            <a:normAutofit/>
          </a:bodyPr>
          <a:lstStyle/>
          <a:p>
            <a:pPr fontAlgn="base"/>
            <a:r>
              <a:rPr lang="hu-HU" sz="3200" b="1" dirty="0">
                <a:latin typeface="+mj-lt"/>
              </a:rPr>
              <a:t>Feladat:</a:t>
            </a:r>
            <a:r>
              <a:rPr lang="hu-HU" sz="3200" dirty="0">
                <a:latin typeface="+mj-lt"/>
              </a:rPr>
              <a:t> Funkciók feltárása, logikai láncolat felépítése</a:t>
            </a:r>
          </a:p>
          <a:p>
            <a:pPr marL="0" indent="0" fontAlgn="base">
              <a:buNone/>
            </a:pPr>
            <a:endParaRPr lang="hu-HU" sz="3200" dirty="0">
              <a:latin typeface="+mj-lt"/>
            </a:endParaRPr>
          </a:p>
          <a:p>
            <a:pPr fontAlgn="base"/>
            <a:r>
              <a:rPr lang="hu-HU" sz="3200" b="1" dirty="0">
                <a:latin typeface="+mj-lt"/>
              </a:rPr>
              <a:t>Eredmény:</a:t>
            </a:r>
            <a:r>
              <a:rPr lang="hu-HU" sz="3200" dirty="0">
                <a:latin typeface="+mj-lt"/>
              </a:rPr>
              <a:t> </a:t>
            </a:r>
          </a:p>
          <a:p>
            <a:pPr lvl="1" fontAlgn="base"/>
            <a:r>
              <a:rPr lang="hu-HU" sz="2800" dirty="0">
                <a:latin typeface="+mj-lt"/>
              </a:rPr>
              <a:t>Az MI képes strukturált funkció-fákat készíteni</a:t>
            </a:r>
          </a:p>
          <a:p>
            <a:pPr lvl="1" fontAlgn="base"/>
            <a:r>
              <a:rPr lang="hu-HU" sz="2800" b="1" dirty="0">
                <a:latin typeface="+mj-lt"/>
              </a:rPr>
              <a:t>Időnyereség: 15-20%. </a:t>
            </a:r>
            <a:r>
              <a:rPr lang="hu-HU" sz="2800" dirty="0">
                <a:latin typeface="+mj-lt"/>
              </a:rPr>
              <a:t> </a:t>
            </a:r>
          </a:p>
          <a:p>
            <a:pPr marL="457200" lvl="1" indent="0" fontAlgn="base">
              <a:buNone/>
            </a:pPr>
            <a:endParaRPr lang="hu-HU" sz="2800" dirty="0">
              <a:latin typeface="+mj-lt"/>
            </a:endParaRPr>
          </a:p>
          <a:p>
            <a:pPr fontAlgn="base"/>
            <a:r>
              <a:rPr lang="hu-HU" sz="3200" b="1" dirty="0" err="1">
                <a:latin typeface="+mj-lt"/>
              </a:rPr>
              <a:t>Limitáció</a:t>
            </a:r>
            <a:r>
              <a:rPr lang="hu-HU" sz="3200" b="1" dirty="0">
                <a:latin typeface="+mj-lt"/>
              </a:rPr>
              <a:t>:</a:t>
            </a:r>
            <a:r>
              <a:rPr lang="hu-HU" sz="3200" dirty="0">
                <a:latin typeface="+mj-lt"/>
              </a:rPr>
              <a:t> NEM rajzol ábrát</a:t>
            </a:r>
          </a:p>
        </p:txBody>
      </p:sp>
    </p:spTree>
    <p:extLst>
      <p:ext uri="{BB962C8B-B14F-4D97-AF65-F5344CB8AC3E}">
        <p14:creationId xmlns:p14="http://schemas.microsoft.com/office/powerpoint/2010/main" val="3091975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5E66B91-1219-9D64-C18B-C56AE73D5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Ötletgyűjtés - </a:t>
            </a:r>
            <a:r>
              <a:rPr lang="hu-HU" b="1" dirty="0" err="1"/>
              <a:t>Brainstorming</a:t>
            </a:r>
            <a:r>
              <a:rPr lang="hu-HU" b="1" dirty="0"/>
              <a:t> (VA 4. fázis)</a:t>
            </a:r>
            <a:r>
              <a:rPr lang="hu-HU" dirty="0"/>
              <a:t> 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7650958-FA4A-5D51-6DB6-8F4FA5783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hu-HU" sz="3200" b="1" dirty="0">
                <a:latin typeface="+mj-lt"/>
              </a:rPr>
              <a:t>Eredmény:</a:t>
            </a:r>
            <a:r>
              <a:rPr lang="hu-HU" sz="3200" dirty="0">
                <a:latin typeface="+mj-lt"/>
              </a:rPr>
              <a:t> 30 perc alatt 20+ új ötlet generálása</a:t>
            </a:r>
          </a:p>
          <a:p>
            <a:pPr marL="0" indent="0" fontAlgn="base">
              <a:buNone/>
            </a:pPr>
            <a:endParaRPr lang="hu-HU" sz="3200" dirty="0">
              <a:latin typeface="+mj-lt"/>
            </a:endParaRPr>
          </a:p>
          <a:p>
            <a:pPr fontAlgn="base"/>
            <a:r>
              <a:rPr lang="hu-HU" sz="3200" b="1" dirty="0">
                <a:latin typeface="+mj-lt"/>
              </a:rPr>
              <a:t>Hatékonyság:</a:t>
            </a:r>
            <a:r>
              <a:rPr lang="hu-HU" sz="3200" dirty="0">
                <a:latin typeface="+mj-lt"/>
              </a:rPr>
              <a:t> </a:t>
            </a:r>
            <a:r>
              <a:rPr lang="hu-HU" sz="3200" b="1" dirty="0">
                <a:latin typeface="+mj-lt"/>
              </a:rPr>
              <a:t>3-4x több javaslat</a:t>
            </a:r>
          </a:p>
          <a:p>
            <a:pPr marL="0" indent="0" fontAlgn="base">
              <a:buNone/>
            </a:pPr>
            <a:r>
              <a:rPr lang="hu-HU" sz="3200" dirty="0">
                <a:latin typeface="+mj-lt"/>
              </a:rPr>
              <a:t> </a:t>
            </a:r>
          </a:p>
          <a:p>
            <a:pPr fontAlgn="base"/>
            <a:r>
              <a:rPr lang="hu-HU" sz="3200" b="1" dirty="0">
                <a:latin typeface="+mj-lt"/>
              </a:rPr>
              <a:t>Példák:</a:t>
            </a:r>
            <a:r>
              <a:rPr lang="hu-HU" sz="3200" dirty="0">
                <a:latin typeface="+mj-lt"/>
              </a:rPr>
              <a:t> </a:t>
            </a:r>
          </a:p>
          <a:p>
            <a:pPr lvl="1" fontAlgn="base"/>
            <a:r>
              <a:rPr lang="hu-HU" sz="2800" dirty="0">
                <a:latin typeface="+mj-lt"/>
              </a:rPr>
              <a:t>Anyagoptimalizálás</a:t>
            </a:r>
          </a:p>
          <a:p>
            <a:pPr lvl="1" fontAlgn="base"/>
            <a:r>
              <a:rPr lang="hu-HU" sz="2800" dirty="0">
                <a:latin typeface="+mj-lt"/>
              </a:rPr>
              <a:t>Új beszállítók</a:t>
            </a:r>
          </a:p>
          <a:p>
            <a:pPr lvl="1" fontAlgn="base"/>
            <a:r>
              <a:rPr lang="hu-HU" sz="2800" dirty="0">
                <a:latin typeface="+mj-lt"/>
              </a:rPr>
              <a:t>Technológiai fejlesztések.  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86966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111BC6-66CD-CF43-4A33-D1A8EDE6D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Költségelemzés (VA 5. fázis)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B8BC2A1-2134-6EF9-8493-C98F1B899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72789" cy="4351338"/>
          </a:xfrm>
        </p:spPr>
        <p:txBody>
          <a:bodyPr>
            <a:normAutofit lnSpcReduction="10000"/>
          </a:bodyPr>
          <a:lstStyle/>
          <a:p>
            <a:pPr fontAlgn="base"/>
            <a:r>
              <a:rPr lang="hu-HU" sz="3200" b="1" dirty="0">
                <a:latin typeface="+mj-lt"/>
              </a:rPr>
              <a:t>Feladat:</a:t>
            </a:r>
            <a:r>
              <a:rPr lang="hu-HU" sz="3200" dirty="0">
                <a:latin typeface="+mj-lt"/>
              </a:rPr>
              <a:t> 7 és 14 éves élettartam-költségek számítása. </a:t>
            </a:r>
          </a:p>
          <a:p>
            <a:pPr fontAlgn="base"/>
            <a:r>
              <a:rPr lang="hu-HU" sz="3200" b="1" dirty="0">
                <a:latin typeface="+mj-lt"/>
              </a:rPr>
              <a:t>Eredmény:</a:t>
            </a:r>
            <a:r>
              <a:rPr lang="hu-HU" sz="3200" dirty="0">
                <a:latin typeface="+mj-lt"/>
              </a:rPr>
              <a:t> </a:t>
            </a:r>
          </a:p>
          <a:p>
            <a:pPr lvl="1" fontAlgn="base"/>
            <a:r>
              <a:rPr lang="hu-HU" sz="2800" dirty="0">
                <a:latin typeface="+mj-lt"/>
              </a:rPr>
              <a:t>Manuális: 1,5 óra → MI: 20-25 perc.  </a:t>
            </a:r>
          </a:p>
          <a:p>
            <a:pPr lvl="1" fontAlgn="base"/>
            <a:r>
              <a:rPr lang="hu-HU" sz="2800" b="1" u="sng" dirty="0">
                <a:latin typeface="+mj-lt"/>
              </a:rPr>
              <a:t>Megtakarítás: 70% időnyereség.  </a:t>
            </a:r>
          </a:p>
          <a:p>
            <a:pPr lvl="1" fontAlgn="base"/>
            <a:r>
              <a:rPr lang="hu-HU" sz="2800" dirty="0">
                <a:latin typeface="+mj-lt"/>
              </a:rPr>
              <a:t>Pontosság: 93% (emberi ellenőrzés mellett)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4FC5C80-1582-2487-85E9-D650B6C34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69432"/>
            <a:ext cx="5545131" cy="330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60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3ACAC2-D365-9DC6-30B4-8FEA2EEF6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Döntés-előkészítés és Dokumentáció</a:t>
            </a:r>
            <a:r>
              <a:rPr lang="hu-HU" dirty="0"/>
              <a:t> 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DC60B5D-6A0A-C63E-B077-11F4CCD59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r>
              <a:rPr lang="hu-HU" sz="3200" b="1" dirty="0">
                <a:latin typeface="+mj-lt"/>
              </a:rPr>
              <a:t> Objektívebb döntéstámogatás:</a:t>
            </a:r>
            <a:br>
              <a:rPr lang="hu-HU" sz="3200" dirty="0">
                <a:latin typeface="+mj-lt"/>
              </a:rPr>
            </a:br>
            <a:r>
              <a:rPr lang="hu-HU" sz="3200" dirty="0">
                <a:latin typeface="+mj-lt"/>
              </a:rPr>
              <a:t>Súlyozott alternatívaértékelés → gyorsabb, konzisztens döntések.</a:t>
            </a:r>
          </a:p>
          <a:p>
            <a:r>
              <a:rPr lang="hu-HU" sz="3200" b="1" dirty="0">
                <a:latin typeface="+mj-lt"/>
              </a:rPr>
              <a:t>75%-kal kevesebb dokumentációs hiba:</a:t>
            </a:r>
            <a:br>
              <a:rPr lang="hu-HU" sz="3200" dirty="0">
                <a:latin typeface="+mj-lt"/>
              </a:rPr>
            </a:br>
            <a:r>
              <a:rPr lang="hu-HU" sz="3200" dirty="0">
                <a:latin typeface="+mj-lt"/>
              </a:rPr>
              <a:t>A záró összefoglalók és prezentációk lényegesen pontosabbak.</a:t>
            </a:r>
          </a:p>
          <a:p>
            <a:r>
              <a:rPr lang="hu-HU" sz="3200" b="1" dirty="0">
                <a:latin typeface="+mj-lt"/>
              </a:rPr>
              <a:t>Modell-erősségek röviden:</a:t>
            </a:r>
            <a:endParaRPr lang="hu-HU" sz="3200" dirty="0">
              <a:latin typeface="+mj-lt"/>
            </a:endParaRPr>
          </a:p>
          <a:p>
            <a:pPr lvl="1"/>
            <a:r>
              <a:rPr lang="hu-HU" sz="2800" b="1" dirty="0" err="1">
                <a:latin typeface="+mj-lt"/>
              </a:rPr>
              <a:t>ChatGPT</a:t>
            </a:r>
            <a:r>
              <a:rPr lang="hu-HU" sz="2800" b="1" dirty="0">
                <a:latin typeface="+mj-lt"/>
              </a:rPr>
              <a:t>:</a:t>
            </a:r>
            <a:r>
              <a:rPr lang="hu-HU" sz="2800" dirty="0">
                <a:latin typeface="+mj-lt"/>
              </a:rPr>
              <a:t> mélyebb szakmai indoklás</a:t>
            </a:r>
          </a:p>
          <a:p>
            <a:pPr lvl="1"/>
            <a:r>
              <a:rPr lang="hu-HU" sz="2800" b="1" dirty="0" err="1">
                <a:latin typeface="+mj-lt"/>
              </a:rPr>
              <a:t>Copilot</a:t>
            </a:r>
            <a:r>
              <a:rPr lang="hu-HU" sz="2800" b="1" dirty="0">
                <a:latin typeface="+mj-lt"/>
              </a:rPr>
              <a:t>:</a:t>
            </a:r>
            <a:r>
              <a:rPr lang="hu-HU" sz="2800" dirty="0">
                <a:latin typeface="+mj-lt"/>
              </a:rPr>
              <a:t> gyors vizuális összefoglalók</a:t>
            </a:r>
          </a:p>
        </p:txBody>
      </p:sp>
    </p:spTree>
    <p:extLst>
      <p:ext uri="{BB962C8B-B14F-4D97-AF65-F5344CB8AC3E}">
        <p14:creationId xmlns:p14="http://schemas.microsoft.com/office/powerpoint/2010/main" val="2264154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C2BB45A-CFFF-2BA3-24F9-8EB081CEE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Összegző összehasonlítás – Melyik MI mire jó?</a:t>
            </a:r>
            <a:r>
              <a:rPr lang="hu-HU" dirty="0"/>
              <a:t> 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840E6041-C691-405D-E115-44395DA825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89"/>
          <a:stretch>
            <a:fillRect/>
          </a:stretch>
        </p:blipFill>
        <p:spPr>
          <a:xfrm>
            <a:off x="1037097" y="2243581"/>
            <a:ext cx="9732559" cy="2819646"/>
          </a:xfr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D446FF67-A9B3-C5EC-8B52-E89B89007496}"/>
              </a:ext>
            </a:extLst>
          </p:cNvPr>
          <p:cNvSpPr txBox="1"/>
          <p:nvPr/>
        </p:nvSpPr>
        <p:spPr>
          <a:xfrm>
            <a:off x="1168372" y="5288340"/>
            <a:ext cx="98552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>
                <a:latin typeface="+mj-lt"/>
              </a:rPr>
              <a:t>Javaslat: </a:t>
            </a:r>
            <a:r>
              <a:rPr lang="hu-HU" sz="3200" dirty="0">
                <a:latin typeface="+mj-lt"/>
              </a:rPr>
              <a:t>A két/három rendszer kombinált használata a leghatékonyabb.  </a:t>
            </a:r>
          </a:p>
          <a:p>
            <a:endParaRPr lang="hu-HU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66612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C7C015F-DEEF-7589-A49E-F26DD344E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1" dirty="0"/>
              <a:t>Esettanulmányok Demonstrációja:</a:t>
            </a:r>
            <a:br>
              <a:rPr lang="hu-HU" b="1" dirty="0"/>
            </a:br>
            <a:r>
              <a:rPr lang="hu-HU" b="1" dirty="0"/>
              <a:t>Esettanulmány 1 – Költségszámítás részletei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180FA6A-A228-3087-77FD-ABE138511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pPr fontAlgn="base"/>
            <a:r>
              <a:rPr lang="hu-HU" sz="3200" b="1" dirty="0">
                <a:latin typeface="+mj-lt"/>
              </a:rPr>
              <a:t>Bemenet:</a:t>
            </a:r>
            <a:r>
              <a:rPr lang="hu-HU" sz="3200" dirty="0">
                <a:latin typeface="+mj-lt"/>
              </a:rPr>
              <a:t> Napkollektor </a:t>
            </a:r>
            <a:r>
              <a:rPr lang="hu-HU" sz="3200" dirty="0" err="1">
                <a:latin typeface="+mj-lt"/>
              </a:rPr>
              <a:t>vs</a:t>
            </a:r>
            <a:r>
              <a:rPr lang="hu-HU" sz="3200" dirty="0">
                <a:latin typeface="+mj-lt"/>
              </a:rPr>
              <a:t>. Gáz </a:t>
            </a:r>
            <a:r>
              <a:rPr lang="hu-HU" sz="3200" dirty="0" err="1">
                <a:latin typeface="+mj-lt"/>
              </a:rPr>
              <a:t>vs</a:t>
            </a:r>
            <a:r>
              <a:rPr lang="hu-HU" sz="3200" dirty="0">
                <a:latin typeface="+mj-lt"/>
              </a:rPr>
              <a:t>. Villany adatok</a:t>
            </a:r>
          </a:p>
          <a:p>
            <a:pPr marL="0" indent="0" fontAlgn="base">
              <a:buNone/>
            </a:pPr>
            <a:endParaRPr lang="hu-HU" sz="3200" dirty="0">
              <a:latin typeface="+mj-lt"/>
            </a:endParaRPr>
          </a:p>
          <a:p>
            <a:pPr fontAlgn="base"/>
            <a:r>
              <a:rPr lang="hu-HU" sz="3200" b="1" dirty="0">
                <a:latin typeface="+mj-lt"/>
              </a:rPr>
              <a:t>Kimenet:</a:t>
            </a:r>
            <a:r>
              <a:rPr lang="hu-HU" sz="3200" dirty="0">
                <a:latin typeface="+mj-lt"/>
              </a:rPr>
              <a:t> 14 éves teljes költségtáblázat generálása</a:t>
            </a:r>
          </a:p>
          <a:p>
            <a:pPr marL="0" indent="0" fontAlgn="base">
              <a:buNone/>
            </a:pPr>
            <a:endParaRPr lang="hu-HU" sz="3200" dirty="0">
              <a:latin typeface="+mj-lt"/>
            </a:endParaRPr>
          </a:p>
          <a:p>
            <a:pPr fontAlgn="base"/>
            <a:r>
              <a:rPr lang="hu-HU" sz="3200" b="1" dirty="0">
                <a:latin typeface="+mj-lt"/>
              </a:rPr>
              <a:t>MI hozzáadott érték:</a:t>
            </a:r>
            <a:r>
              <a:rPr lang="hu-HU" sz="3200" dirty="0">
                <a:latin typeface="+mj-lt"/>
              </a:rPr>
              <a:t> Azonnali megtérülési magyarázat és piaci árak becslése (2020-2025).  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23585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0D230B-64A8-C669-FAF0-6FBEAF7C2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Esettanulmány 2 – FAST-diagram generálás</a:t>
            </a:r>
            <a:r>
              <a:rPr lang="hu-HU" dirty="0"/>
              <a:t> 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44DE977-7DE9-EA83-F89F-E82CF937A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220" y="1899724"/>
            <a:ext cx="5158875" cy="4593151"/>
          </a:xfrm>
        </p:spPr>
        <p:txBody>
          <a:bodyPr>
            <a:normAutofit/>
          </a:bodyPr>
          <a:lstStyle/>
          <a:p>
            <a:pPr fontAlgn="base"/>
            <a:r>
              <a:rPr lang="hu-HU" sz="3200" b="1" dirty="0">
                <a:latin typeface="+mj-lt"/>
              </a:rPr>
              <a:t>Kihívás:</a:t>
            </a:r>
            <a:r>
              <a:rPr lang="hu-HU" sz="3200" dirty="0">
                <a:latin typeface="+mj-lt"/>
              </a:rPr>
              <a:t> Az MI nem generál közvetlen képet. </a:t>
            </a:r>
          </a:p>
          <a:p>
            <a:pPr fontAlgn="base"/>
            <a:r>
              <a:rPr lang="hu-HU" sz="3200" b="1" dirty="0">
                <a:latin typeface="+mj-lt"/>
              </a:rPr>
              <a:t>Megoldás:</a:t>
            </a:r>
            <a:r>
              <a:rPr lang="hu-HU" sz="3200" dirty="0">
                <a:latin typeface="+mj-lt"/>
              </a:rPr>
              <a:t> HTML+CSS kód  </a:t>
            </a:r>
          </a:p>
          <a:p>
            <a:pPr fontAlgn="base"/>
            <a:r>
              <a:rPr lang="hu-HU" sz="3200" b="1" dirty="0">
                <a:latin typeface="+mj-lt"/>
              </a:rPr>
              <a:t>Eredmény:</a:t>
            </a:r>
            <a:r>
              <a:rPr lang="hu-HU" sz="3200" dirty="0">
                <a:latin typeface="+mj-lt"/>
              </a:rPr>
              <a:t> </a:t>
            </a:r>
          </a:p>
          <a:p>
            <a:pPr lvl="1" fontAlgn="base"/>
            <a:r>
              <a:rPr lang="hu-HU" sz="2800" dirty="0" err="1">
                <a:latin typeface="+mj-lt"/>
              </a:rPr>
              <a:t>Copilot</a:t>
            </a:r>
            <a:r>
              <a:rPr lang="hu-HU" sz="2800" dirty="0">
                <a:latin typeface="+mj-lt"/>
              </a:rPr>
              <a:t>: Leegyszerűsített ábra  </a:t>
            </a:r>
          </a:p>
          <a:p>
            <a:pPr lvl="1" fontAlgn="base"/>
            <a:r>
              <a:rPr lang="hu-HU" sz="2800" dirty="0" err="1">
                <a:latin typeface="+mj-lt"/>
              </a:rPr>
              <a:t>ChatGPT</a:t>
            </a:r>
            <a:r>
              <a:rPr lang="hu-HU" sz="2800" dirty="0">
                <a:latin typeface="+mj-lt"/>
              </a:rPr>
              <a:t>: Strukturált, hierarchikus ábra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CAC5D12-FD65-EFB2-BBE8-3139EE818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379" y="1899724"/>
            <a:ext cx="6645645" cy="3445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13717C11-7728-D5A2-AD8D-A6DF83BC31FC}"/>
              </a:ext>
            </a:extLst>
          </p:cNvPr>
          <p:cNvSpPr txBox="1"/>
          <p:nvPr/>
        </p:nvSpPr>
        <p:spPr>
          <a:xfrm>
            <a:off x="5414379" y="5345614"/>
            <a:ext cx="6094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400" dirty="0">
                <a:latin typeface="+mj-lt"/>
              </a:rPr>
              <a:t>2.1 Melléklet - </a:t>
            </a:r>
            <a:r>
              <a:rPr lang="hu-HU" sz="1400" dirty="0" err="1">
                <a:latin typeface="+mj-lt"/>
              </a:rPr>
              <a:t>ChatGPT</a:t>
            </a:r>
            <a:r>
              <a:rPr lang="hu-HU" sz="1400" dirty="0">
                <a:latin typeface="+mj-lt"/>
              </a:rPr>
              <a:t> eredménye</a:t>
            </a:r>
          </a:p>
        </p:txBody>
      </p:sp>
    </p:spTree>
    <p:extLst>
      <p:ext uri="{BB962C8B-B14F-4D97-AF65-F5344CB8AC3E}">
        <p14:creationId xmlns:p14="http://schemas.microsoft.com/office/powerpoint/2010/main" val="4169392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73E105-7261-BFF4-71B1-30EBFCD68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Reprodukálhatóság kérdése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B624BDC-677C-4943-0670-3361F3061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hu-HU" sz="3200" b="1" dirty="0">
                <a:latin typeface="+mj-lt"/>
              </a:rPr>
              <a:t>Megfigyelés:</a:t>
            </a:r>
            <a:r>
              <a:rPr lang="hu-HU" sz="3200" dirty="0">
                <a:latin typeface="+mj-lt"/>
              </a:rPr>
              <a:t> A FAST-diagram generálása nem determinisztikus</a:t>
            </a:r>
          </a:p>
          <a:p>
            <a:pPr marL="0" indent="0" fontAlgn="base">
              <a:buNone/>
            </a:pPr>
            <a:endParaRPr lang="hu-HU" sz="3200" dirty="0">
              <a:latin typeface="+mj-lt"/>
            </a:endParaRPr>
          </a:p>
          <a:p>
            <a:pPr fontAlgn="base"/>
            <a:r>
              <a:rPr lang="hu-HU" sz="3200" b="1" dirty="0">
                <a:latin typeface="+mj-lt"/>
              </a:rPr>
              <a:t>Probléma:</a:t>
            </a:r>
            <a:r>
              <a:rPr lang="hu-HU" sz="3200" dirty="0">
                <a:latin typeface="+mj-lt"/>
              </a:rPr>
              <a:t> Ugyanaz a prompt minden futtatáskor kicsit más eredményt ad.  </a:t>
            </a:r>
          </a:p>
          <a:p>
            <a:pPr marL="0" indent="0" fontAlgn="base">
              <a:buNone/>
            </a:pPr>
            <a:endParaRPr lang="hu-HU" sz="3200" b="1" dirty="0">
              <a:latin typeface="+mj-lt"/>
            </a:endParaRPr>
          </a:p>
          <a:p>
            <a:pPr fontAlgn="base"/>
            <a:r>
              <a:rPr lang="hu-HU" sz="3200" b="1" dirty="0">
                <a:latin typeface="+mj-lt"/>
              </a:rPr>
              <a:t>Tanulság: végleges ábrát embernek kell fixálnia</a:t>
            </a:r>
          </a:p>
          <a:p>
            <a:pPr marL="0" indent="0">
              <a:buNone/>
            </a:pPr>
            <a:endParaRPr lang="hu-HU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86151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852959-5C31-856B-84DC-784717341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Szabványosítás és Jövőkép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CC89AD6-E06F-30DF-779A-DA7381B86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hu-HU" sz="3200" b="1" dirty="0">
                <a:latin typeface="+mj-lt"/>
              </a:rPr>
              <a:t>Cél:</a:t>
            </a:r>
            <a:r>
              <a:rPr lang="hu-HU" sz="3200" dirty="0">
                <a:latin typeface="+mj-lt"/>
              </a:rPr>
              <a:t> Az átláthatóság és reprodukálhatóság</a:t>
            </a:r>
          </a:p>
          <a:p>
            <a:pPr marL="0" indent="0">
              <a:buNone/>
            </a:pPr>
            <a:endParaRPr lang="hu-HU" sz="3200" dirty="0">
              <a:latin typeface="+mj-lt"/>
            </a:endParaRPr>
          </a:p>
          <a:p>
            <a:pPr marL="342900" indent="-342900" fontAlgn="base"/>
            <a:r>
              <a:rPr lang="hu-HU" sz="3200" b="1" dirty="0">
                <a:latin typeface="+mj-lt"/>
              </a:rPr>
              <a:t>Alapelvek:</a:t>
            </a:r>
            <a:r>
              <a:rPr lang="hu-HU" sz="3200" dirty="0">
                <a:latin typeface="+mj-lt"/>
              </a:rPr>
              <a:t> </a:t>
            </a:r>
          </a:p>
          <a:p>
            <a:pPr marL="800100" lvl="1" indent="-342900" fontAlgn="base"/>
            <a:r>
              <a:rPr lang="hu-HU" sz="2800" dirty="0">
                <a:latin typeface="+mj-lt"/>
              </a:rPr>
              <a:t>Transzparencia</a:t>
            </a:r>
          </a:p>
          <a:p>
            <a:pPr marL="800100" lvl="1" indent="-342900" fontAlgn="base"/>
            <a:r>
              <a:rPr lang="hu-HU" sz="2800" dirty="0">
                <a:latin typeface="+mj-lt"/>
              </a:rPr>
              <a:t>Ellenőrizhetőség </a:t>
            </a:r>
          </a:p>
          <a:p>
            <a:pPr marL="800100" lvl="1" indent="-342900" fontAlgn="base"/>
            <a:r>
              <a:rPr lang="hu-HU" sz="2800" dirty="0">
                <a:latin typeface="+mj-lt"/>
              </a:rPr>
              <a:t>Dokumentálás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87492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41333B6-3F0B-39D9-B4AF-C183E4345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Validációs folyamat (Human-in-</a:t>
            </a:r>
            <a:r>
              <a:rPr lang="hu-HU" b="1" dirty="0" err="1"/>
              <a:t>the</a:t>
            </a:r>
            <a:r>
              <a:rPr lang="hu-HU" b="1" dirty="0"/>
              <a:t>-</a:t>
            </a:r>
            <a:r>
              <a:rPr lang="hu-HU" b="1" dirty="0" err="1"/>
              <a:t>loop</a:t>
            </a:r>
            <a:r>
              <a:rPr lang="hu-HU" b="1" dirty="0"/>
              <a:t>)</a:t>
            </a:r>
            <a:r>
              <a:rPr lang="hu-HU" dirty="0"/>
              <a:t> 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5233C5C-FC8E-D61D-CEFC-80373D523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hu-HU" sz="3200" b="1" dirty="0">
                <a:latin typeface="+mj-lt"/>
              </a:rPr>
              <a:t>Kötelező lépés:</a:t>
            </a:r>
            <a:r>
              <a:rPr lang="hu-HU" sz="3200" dirty="0">
                <a:latin typeface="+mj-lt"/>
              </a:rPr>
              <a:t> Minden MI kimenetet szakmai felülvizsgálat követ.  </a:t>
            </a:r>
          </a:p>
          <a:p>
            <a:pPr marL="0" indent="0" fontAlgn="base">
              <a:buNone/>
            </a:pPr>
            <a:endParaRPr lang="hu-HU" sz="3200" dirty="0">
              <a:latin typeface="+mj-lt"/>
            </a:endParaRPr>
          </a:p>
          <a:p>
            <a:pPr fontAlgn="base"/>
            <a:r>
              <a:rPr lang="hu-HU" sz="3200" b="1" dirty="0">
                <a:latin typeface="+mj-lt"/>
              </a:rPr>
              <a:t>Ellenőrző lista (</a:t>
            </a:r>
            <a:r>
              <a:rPr lang="hu-HU" sz="3200" b="1" dirty="0" err="1">
                <a:latin typeface="+mj-lt"/>
              </a:rPr>
              <a:t>Checklist</a:t>
            </a:r>
            <a:r>
              <a:rPr lang="hu-HU" sz="3200" b="1" dirty="0">
                <a:latin typeface="+mj-lt"/>
              </a:rPr>
              <a:t>):</a:t>
            </a:r>
            <a:r>
              <a:rPr lang="hu-HU" sz="3200" dirty="0">
                <a:latin typeface="+mj-lt"/>
              </a:rPr>
              <a:t> </a:t>
            </a:r>
          </a:p>
          <a:p>
            <a:pPr lvl="1" fontAlgn="base"/>
            <a:r>
              <a:rPr lang="hu-HU" sz="2800" dirty="0">
                <a:latin typeface="+mj-lt"/>
              </a:rPr>
              <a:t>Forrásadatok megbízhatók? </a:t>
            </a:r>
          </a:p>
          <a:p>
            <a:pPr lvl="1" fontAlgn="base"/>
            <a:r>
              <a:rPr lang="hu-HU" sz="2800" dirty="0">
                <a:latin typeface="+mj-lt"/>
              </a:rPr>
              <a:t>Szakmailag helytálló? </a:t>
            </a:r>
          </a:p>
          <a:p>
            <a:pPr lvl="1" fontAlgn="base"/>
            <a:r>
              <a:rPr lang="hu-HU" sz="2800" dirty="0">
                <a:latin typeface="+mj-lt"/>
              </a:rPr>
              <a:t>Nincs hallucináció/torzítás?</a:t>
            </a:r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05961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B93A057-A1CA-D997-6978-7A9CBBCF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Eredmények a számok tükrében (ROI)</a:t>
            </a:r>
            <a:r>
              <a:rPr lang="hu-HU" dirty="0"/>
              <a:t> </a:t>
            </a:r>
          </a:p>
        </p:txBody>
      </p:sp>
      <p:pic>
        <p:nvPicPr>
          <p:cNvPr id="6" name="Tartalom helye 5">
            <a:extLst>
              <a:ext uri="{FF2B5EF4-FFF2-40B4-BE49-F238E27FC236}">
                <a16:creationId xmlns:a16="http://schemas.microsoft.com/office/drawing/2014/main" id="{B827BC60-ACB1-DFDA-2743-A9DCE482D5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278" y="1690688"/>
            <a:ext cx="8993957" cy="3704950"/>
          </a:xfrm>
        </p:spPr>
      </p:pic>
      <p:sp>
        <p:nvSpPr>
          <p:cNvPr id="4" name="Cím 1">
            <a:extLst>
              <a:ext uri="{FF2B5EF4-FFF2-40B4-BE49-F238E27FC236}">
                <a16:creationId xmlns:a16="http://schemas.microsoft.com/office/drawing/2014/main" id="{F0368A86-C1C8-1EC9-FCED-3B38643A9351}"/>
              </a:ext>
            </a:extLst>
          </p:cNvPr>
          <p:cNvSpPr txBox="1">
            <a:spLocks/>
          </p:cNvSpPr>
          <p:nvPr/>
        </p:nvSpPr>
        <p:spPr>
          <a:xfrm>
            <a:off x="838200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0B48B29A-BD27-E3EC-11F2-9B8B811FBFCD}"/>
              </a:ext>
            </a:extLst>
          </p:cNvPr>
          <p:cNvSpPr txBox="1"/>
          <p:nvPr/>
        </p:nvSpPr>
        <p:spPr>
          <a:xfrm>
            <a:off x="838200" y="5629729"/>
            <a:ext cx="988636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hu-HU" sz="3200" b="1" dirty="0">
                <a:latin typeface="+mj-lt"/>
              </a:rPr>
              <a:t>Konklúzió: </a:t>
            </a:r>
            <a:r>
              <a:rPr lang="hu-HU" sz="3200" dirty="0">
                <a:latin typeface="+mj-lt"/>
              </a:rPr>
              <a:t>A projekt ciklusideje a harmadára csökkent, miközben az adatok megbízhatósága nőtt. </a:t>
            </a:r>
          </a:p>
        </p:txBody>
      </p:sp>
    </p:spTree>
    <p:extLst>
      <p:ext uri="{BB962C8B-B14F-4D97-AF65-F5344CB8AC3E}">
        <p14:creationId xmlns:p14="http://schemas.microsoft.com/office/powerpoint/2010/main" val="3777180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9677605-CAF3-0B5D-D87C-194247BC2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/>
              <a:t>Stratégiai ajánlás – Melyik eszközt mikor?</a:t>
            </a:r>
            <a:endParaRPr lang="hu-HU"/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511DC906-1FAA-2706-B50E-AF72384126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32090"/>
            <a:ext cx="4351338" cy="4351338"/>
          </a:xfr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43EE377F-B1DD-02E9-193D-8F86858E8496}"/>
              </a:ext>
            </a:extLst>
          </p:cNvPr>
          <p:cNvSpPr txBox="1"/>
          <p:nvPr/>
        </p:nvSpPr>
        <p:spPr>
          <a:xfrm>
            <a:off x="5754279" y="3053247"/>
            <a:ext cx="55995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b="1" dirty="0">
                <a:latin typeface="+mj-lt"/>
              </a:rPr>
              <a:t>Szinergia:</a:t>
            </a:r>
            <a:r>
              <a:rPr lang="hu-HU" sz="3200" dirty="0">
                <a:latin typeface="+mj-lt"/>
              </a:rPr>
              <a:t> A legjobb eredmény a két modell </a:t>
            </a:r>
            <a:r>
              <a:rPr lang="hu-HU" sz="3200" b="1" dirty="0">
                <a:latin typeface="+mj-lt"/>
              </a:rPr>
              <a:t>kombinált használatával</a:t>
            </a:r>
            <a:r>
              <a:rPr lang="hu-HU" sz="3200" dirty="0">
                <a:latin typeface="+mj-lt"/>
              </a:rPr>
              <a:t> érhető el</a:t>
            </a:r>
          </a:p>
        </p:txBody>
      </p:sp>
    </p:spTree>
    <p:extLst>
      <p:ext uri="{BB962C8B-B14F-4D97-AF65-F5344CB8AC3E}">
        <p14:creationId xmlns:p14="http://schemas.microsoft.com/office/powerpoint/2010/main" val="4193325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369DEF-2E95-3DBD-F737-F2BE08FE0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Az MI és az Ember szerepe (Végső konklúzió)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C512D58-4236-D3A2-0CDE-1A14F3E35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85750" indent="-285750" fontAlgn="base"/>
            <a:r>
              <a:rPr lang="hu-HU" sz="3200" b="1" dirty="0"/>
              <a:t>Cél:</a:t>
            </a:r>
            <a:r>
              <a:rPr lang="hu-HU" sz="3200" dirty="0"/>
              <a:t> Szakmai szerep hangsúlyozása</a:t>
            </a:r>
          </a:p>
          <a:p>
            <a:pPr marL="285750" indent="-285750" fontAlgn="base"/>
            <a:r>
              <a:rPr lang="hu-HU" sz="3200" b="1" dirty="0"/>
              <a:t>Fő üzenet:</a:t>
            </a:r>
            <a:r>
              <a:rPr lang="hu-HU" sz="3200" dirty="0"/>
              <a:t> Az MI optimalizál, de nem dönt helyettünk. </a:t>
            </a:r>
          </a:p>
          <a:p>
            <a:pPr marL="285750" indent="-285750" fontAlgn="base"/>
            <a:r>
              <a:rPr lang="hu-HU" sz="3200" b="1" dirty="0"/>
              <a:t>Az ember nélkülözhetetlen szerepe:</a:t>
            </a:r>
            <a:r>
              <a:rPr lang="hu-HU" sz="3200" dirty="0"/>
              <a:t> </a:t>
            </a:r>
          </a:p>
          <a:p>
            <a:pPr marL="742950" lvl="1" indent="-285750" fontAlgn="base"/>
            <a:r>
              <a:rPr lang="hu-HU" sz="2800" dirty="0"/>
              <a:t>Validáció</a:t>
            </a:r>
          </a:p>
          <a:p>
            <a:pPr marL="742950" lvl="1" indent="-285750" fontAlgn="base"/>
            <a:r>
              <a:rPr lang="hu-HU" sz="2800" dirty="0"/>
              <a:t>Stratégia</a:t>
            </a:r>
          </a:p>
          <a:p>
            <a:pPr marL="457200" lvl="1" indent="0" fontAlgn="base">
              <a:buNone/>
            </a:pPr>
            <a:endParaRPr lang="hu-HU" sz="2800" b="1" dirty="0"/>
          </a:p>
          <a:p>
            <a:r>
              <a:rPr lang="hu-HU" sz="3200" b="1" dirty="0"/>
              <a:t>Jövőkép: </a:t>
            </a:r>
            <a:r>
              <a:rPr lang="hu-HU" sz="3200" dirty="0"/>
              <a:t>Az értékelemzés jövője a hibrid modell (Ember + MI), ahol az MI a "számítási motor", a mérnök pedig a "stratégiai irányító". </a:t>
            </a:r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34747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DA78E54-B56D-87F9-E875-A92599243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574" y="695063"/>
            <a:ext cx="10316852" cy="5639749"/>
          </a:xfrm>
        </p:spPr>
        <p:txBody>
          <a:bodyPr>
            <a:normAutofit/>
          </a:bodyPr>
          <a:lstStyle/>
          <a:p>
            <a:pPr algn="ctr"/>
            <a:r>
              <a:rPr lang="hu-HU" dirty="0"/>
              <a:t>Köszönjük a figyelmet!</a:t>
            </a:r>
            <a:br>
              <a:rPr lang="hu-HU" dirty="0"/>
            </a:br>
            <a:r>
              <a:rPr lang="hu-HU" sz="1400" i="1" cap="all" dirty="0">
                <a:solidFill>
                  <a:schemeClr val="tx2"/>
                </a:solidFill>
              </a:rPr>
              <a:t>A prezentáció a "Értékelemzés módszertanának optimalizálása mesterséges intelligencia modellekkel" c. dokumentum alapján készült</a:t>
            </a:r>
            <a:br>
              <a:rPr lang="hu-HU" i="1" cap="all" dirty="0">
                <a:solidFill>
                  <a:schemeClr val="tx2"/>
                </a:solidFill>
              </a:rPr>
            </a:b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04488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CEF33F28A779964680C6551BE7AC41CB" ma:contentTypeVersion="3" ma:contentTypeDescription="Új dokumentum létrehozása." ma:contentTypeScope="" ma:versionID="63af60667443c273f8ac1b68401bd0c8">
  <xsd:schema xmlns:xsd="http://www.w3.org/2001/XMLSchema" xmlns:xs="http://www.w3.org/2001/XMLSchema" xmlns:p="http://schemas.microsoft.com/office/2006/metadata/properties" xmlns:ns2="97ff8099-4760-4bd1-a8d4-d871d7dbe352" targetNamespace="http://schemas.microsoft.com/office/2006/metadata/properties" ma:root="true" ma:fieldsID="3f6c137141708358a037213c39c95416" ns2:_="">
    <xsd:import namespace="97ff8099-4760-4bd1-a8d4-d871d7dbe3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ff8099-4760-4bd1-a8d4-d871d7dbe3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7EE9743-7E4C-40C3-A0BF-D8ECF69C58E1}"/>
</file>

<file path=customXml/itemProps2.xml><?xml version="1.0" encoding="utf-8"?>
<ds:datastoreItem xmlns:ds="http://schemas.openxmlformats.org/officeDocument/2006/customXml" ds:itemID="{8A96DFC1-5D04-44FF-97BB-10C6EA64698A}"/>
</file>

<file path=customXml/itemProps3.xml><?xml version="1.0" encoding="utf-8"?>
<ds:datastoreItem xmlns:ds="http://schemas.openxmlformats.org/officeDocument/2006/customXml" ds:itemID="{8A9E8E13-2486-4C84-8F39-955D12F6AE6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630</Words>
  <Application>Microsoft Office PowerPoint</Application>
  <PresentationFormat>Szélesvásznú</PresentationFormat>
  <Paragraphs>129</Paragraphs>
  <Slides>20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Office-téma</vt:lpstr>
      <vt:lpstr>PowerPoint-bemutató</vt:lpstr>
      <vt:lpstr>A projekt célkitűzése</vt:lpstr>
      <vt:lpstr>A bázisprojekt – Napkollektor értékelemzése </vt:lpstr>
      <vt:lpstr>A hagyományos módszertan korlátai vs. MI lehetőségek </vt:lpstr>
      <vt:lpstr>MI alkalmazási lehetőségek az értékelemzési fázisokban </vt:lpstr>
      <vt:lpstr>Információgyűjtés (VA 2. fázis) </vt:lpstr>
      <vt:lpstr>Funkcióelemzés és FAST-diagram (VA 3. fázis) </vt:lpstr>
      <vt:lpstr>Ötletgyűjtés - Brainstorming (VA 4. fázis) </vt:lpstr>
      <vt:lpstr>Költségelemzés (VA 5. fázis)</vt:lpstr>
      <vt:lpstr>Döntés-előkészítés és Dokumentáció </vt:lpstr>
      <vt:lpstr>Összegző összehasonlítás – Melyik MI mire jó? </vt:lpstr>
      <vt:lpstr>Esettanulmányok Demonstrációja: Esettanulmány 1 – Költségszámítás részletei</vt:lpstr>
      <vt:lpstr>Esettanulmány 2 – FAST-diagram generálás </vt:lpstr>
      <vt:lpstr>Reprodukálhatóság kérdése</vt:lpstr>
      <vt:lpstr>Szabványosítás és Jövőkép</vt:lpstr>
      <vt:lpstr>Validációs folyamat (Human-in-the-loop) </vt:lpstr>
      <vt:lpstr>Eredmények a számok tükrében (ROI) </vt:lpstr>
      <vt:lpstr>Stratégiai ajánlás – Melyik eszközt mikor?</vt:lpstr>
      <vt:lpstr>Az MI és az Ember szerepe (Végső konklúzió)</vt:lpstr>
      <vt:lpstr>Köszönjük a figyelmet! A prezentáció a "Értékelemzés módszertanának optimalizálása mesterséges intelligencia modellekkel" c. dokumentum alapján készült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Mohácsi Leila</dc:creator>
  <cp:lastModifiedBy>Mohácsi Leila</cp:lastModifiedBy>
  <cp:revision>1</cp:revision>
  <dcterms:created xsi:type="dcterms:W3CDTF">2025-11-25T16:39:21Z</dcterms:created>
  <dcterms:modified xsi:type="dcterms:W3CDTF">2025-11-25T16:39:21Z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0x010100CEF33F28A779964680C6551BE7AC41CB</vt:lpwstr>
  </property>
</Properties>
</file>